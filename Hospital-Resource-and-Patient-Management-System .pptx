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7" r:id="rId19"/>
    <p:sldId id="272" r:id="rId20"/>
    <p:sldId id="273" r:id="rId21"/>
    <p:sldId id="274" r:id="rId22"/>
    <p:sldId id="275" r:id="rId23"/>
  </p:sldIdLst>
  <p:sldSz cx="12192000" cy="6858000"/>
  <p:notesSz cx="6858000" cy="12192000"/>
  <p:embeddedFontLst>
    <p:embeddedFont>
      <p:font typeface="Inter" panose="020B0604020202020204" charset="0"/>
      <p:regular r:id="rId25"/>
    </p:embeddedFont>
    <p:embeddedFont>
      <p:font typeface="Inter Bold" panose="020B0604020202020204" charset="0"/>
      <p:regular r:id="rId26"/>
    </p:embeddedFont>
    <p:embeddedFont>
      <p:font typeface="Petrona 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15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2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33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860" y="839487"/>
            <a:ext cx="2767638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61264" y="904379"/>
            <a:ext cx="31504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PROJECT · OOP IN C++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307755" y="1336446"/>
            <a:ext cx="7015169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Hospital Resource &amp; Patient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Management System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347860" y="2793942"/>
            <a:ext cx="541811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Emergency Bed Allocation</a:t>
            </a:r>
            <a:endParaRPr lang="en-US" sz="14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237300"/>
              </p:ext>
            </p:extLst>
          </p:nvPr>
        </p:nvGraphicFramePr>
        <p:xfrm>
          <a:off x="307755" y="3297830"/>
          <a:ext cx="6781758" cy="2167676"/>
        </p:xfrm>
        <a:graphic>
          <a:graphicData uri="http://schemas.openxmlformats.org/drawingml/2006/table">
            <a:tbl>
              <a:tblPr/>
              <a:tblGrid>
                <a:gridCol w="3390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8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Name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Register Number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Mohammed Farmanullah 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1972260040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B. Balasuriya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1911260010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9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Bala Ashwin R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1921260102</a:t>
                      </a:r>
                      <a:endParaRPr lang="en-US" sz="14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D4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47860" y="5666975"/>
            <a:ext cx="689268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in C++ —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i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Faculty</a:t>
            </a:r>
            <a:r>
              <a:rPr lang="en-US" sz="14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Dr. Parimala Kanaga Devan .K · Slot: D</a:t>
            </a:r>
            <a:endParaRPr lang="en-US" sz="1450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701FF35E-6210-2255-531B-43DDD5DFB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7116" y="1217469"/>
            <a:ext cx="3189340" cy="48607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B485984-140B-D087-281E-8CE9E2EE3D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55" y="214827"/>
            <a:ext cx="2363160" cy="524251"/>
          </a:xfrm>
          <a:prstGeom prst="rect">
            <a:avLst/>
          </a:prstGeom>
        </p:spPr>
      </p:pic>
      <p:pic>
        <p:nvPicPr>
          <p:cNvPr id="15" name="Picture 14" descr="Engineer to Excel&#10;&#10;AI-generated content may be incorrect.">
            <a:extLst>
              <a:ext uri="{FF2B5EF4-FFF2-40B4-BE49-F238E27FC236}">
                <a16:creationId xmlns:a16="http://schemas.microsoft.com/office/drawing/2014/main" id="{4B76DCA1-9349-5828-5348-31392A4F3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36" y="1038726"/>
            <a:ext cx="3186952" cy="478054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91676" y="949084"/>
            <a:ext cx="1391012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4" name="Text 1"/>
          <p:cNvSpPr/>
          <p:nvPr/>
        </p:nvSpPr>
        <p:spPr>
          <a:xfrm>
            <a:off x="4705081" y="1005738"/>
            <a:ext cx="177378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591676" y="1311828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Hospital Resource Management Matters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4591676" y="2835728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resource management is essential for delivering timely, high-quality care. Unexpected bed shortages create dangerous delays during critical emergencies and degrade patient outcomes. Manual tracking leads to resource mismatches and long wait times.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4591676" y="4305740"/>
            <a:ext cx="6296860" cy="1663204"/>
          </a:xfrm>
          <a:prstGeom prst="roundRect">
            <a:avLst>
              <a:gd name="adj" fmla="val 4773"/>
            </a:avLst>
          </a:prstGeom>
          <a:solidFill>
            <a:srgbClr val="CCEE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0683" y="4525721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05924" y="4494269"/>
            <a:ext cx="549360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implements an automated, real-time bed and patient management system in C++ — increasing responsiveness and reducing human error across hospital operations.</a:t>
            </a:r>
            <a:endParaRPr lang="en-US" sz="1450" dirty="0"/>
          </a:p>
        </p:txBody>
      </p:sp>
      <p:pic>
        <p:nvPicPr>
          <p:cNvPr id="13" name="Picture 12" descr="Engineer to Excel&#10;&#10;AI-generated content may be incorrect.">
            <a:extLst>
              <a:ext uri="{FF2B5EF4-FFF2-40B4-BE49-F238E27FC236}">
                <a16:creationId xmlns:a16="http://schemas.microsoft.com/office/drawing/2014/main" id="{08871342-0070-5D59-AD7A-81167C821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64804"/>
            <a:ext cx="1889673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821458"/>
            <a:ext cx="2272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12754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 Core Challenges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031232"/>
            <a:ext cx="3496877" cy="20619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3245644"/>
            <a:ext cx="296646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Manual Constraints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77479" y="366910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Paper-based or siloed digital records make it difficult to maintain accurate, up-to-date bed status across wards.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031232"/>
            <a:ext cx="3496877" cy="20619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3245644"/>
            <a:ext cx="296646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Emergency Delays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663363" y="366910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coordination between departments frequently causes dangerous delays in emergency bed allocation.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031232"/>
            <a:ext cx="3496877" cy="20619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3245644"/>
            <a:ext cx="296646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Operational Inefficiency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349247" y="3669109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mismatches and duplicated work reduce utilization and increase patient waiting times.</a:t>
            </a:r>
            <a:endParaRPr lang="en-US" sz="1450" dirty="0"/>
          </a:p>
        </p:txBody>
      </p:sp>
      <p:pic>
        <p:nvPicPr>
          <p:cNvPr id="17" name="Picture 16" descr="Engineer to Excel&#10;&#10;AI-generated content may be incorrect.">
            <a:extLst>
              <a:ext uri="{FF2B5EF4-FFF2-40B4-BE49-F238E27FC236}">
                <a16:creationId xmlns:a16="http://schemas.microsoft.com/office/drawing/2014/main" id="{C2D4839A-96A8-7F86-4060-CFE8FD39AA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0487"/>
            <a:ext cx="1807125" cy="273645"/>
          </a:xfrm>
          <a:prstGeom prst="roundRect">
            <a:avLst>
              <a:gd name="adj" fmla="val 22121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614462"/>
            <a:ext cx="2200617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2791"/>
            <a:ext cx="10868745" cy="59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Set Out to Build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1751509"/>
            <a:ext cx="3508486" cy="2327870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7902" y="1937941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528" y="2086471"/>
            <a:ext cx="243179" cy="24318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7902" y="2650034"/>
            <a:ext cx="3135631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Automate Tracking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47902" y="3048496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bed availability across all wards — no guesswork.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1605" y="1751509"/>
            <a:ext cx="3508486" cy="2327870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8032" y="1937941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6658" y="2086471"/>
            <a:ext cx="243179" cy="2431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8032" y="2650034"/>
            <a:ext cx="3135631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Emergency Allocation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4528032" y="3048496"/>
            <a:ext cx="31356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bed assignment based on assessed priority and severity.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21734" y="1751509"/>
            <a:ext cx="3508486" cy="2327870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08162" y="1937941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788" y="2086471"/>
            <a:ext cx="243179" cy="24318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08162" y="2650034"/>
            <a:ext cx="3135631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Records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8208162" y="3048496"/>
            <a:ext cx="3135631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digital storage with controlled access to protect patient data.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61475" y="4251027"/>
            <a:ext cx="5348551" cy="2046387"/>
          </a:xfrm>
          <a:prstGeom prst="roundRect">
            <a:avLst>
              <a:gd name="adj" fmla="val 3698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7902" y="4437459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28" y="4585990"/>
            <a:ext cx="243179" cy="24318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7902" y="5149552"/>
            <a:ext cx="4975696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Reduce Waiting</a:t>
            </a:r>
            <a:endParaRPr lang="en-US" sz="1850" dirty="0"/>
          </a:p>
        </p:txBody>
      </p:sp>
      <p:sp>
        <p:nvSpPr>
          <p:cNvPr id="24" name="Text 18"/>
          <p:cNvSpPr/>
          <p:nvPr/>
        </p:nvSpPr>
        <p:spPr>
          <a:xfrm>
            <a:off x="847902" y="5548015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wait times and correct misallocation through workflow automation.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6181670" y="4251027"/>
            <a:ext cx="5348551" cy="2046387"/>
          </a:xfrm>
          <a:prstGeom prst="roundRect">
            <a:avLst>
              <a:gd name="adj" fmla="val 3698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368097" y="4437459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6723" y="4585990"/>
            <a:ext cx="243179" cy="24318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68097" y="5149552"/>
            <a:ext cx="4975696" cy="295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Live Updates</a:t>
            </a:r>
            <a:endParaRPr lang="en-US" sz="1850" dirty="0"/>
          </a:p>
        </p:txBody>
      </p:sp>
      <p:sp>
        <p:nvSpPr>
          <p:cNvPr id="29" name="Text 22"/>
          <p:cNvSpPr/>
          <p:nvPr/>
        </p:nvSpPr>
        <p:spPr>
          <a:xfrm>
            <a:off x="6368097" y="5548015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status updates for administrative and medical staff.</a:t>
            </a:r>
            <a:endParaRPr lang="en-US" sz="1400" dirty="0"/>
          </a:p>
        </p:txBody>
      </p:sp>
      <p:pic>
        <p:nvPicPr>
          <p:cNvPr id="33" name="Picture 32" descr="Engineer to Excel&#10;&#10;AI-generated content may be incorrect.">
            <a:extLst>
              <a:ext uri="{FF2B5EF4-FFF2-40B4-BE49-F238E27FC236}">
                <a16:creationId xmlns:a16="http://schemas.microsoft.com/office/drawing/2014/main" id="{1885FBFD-AA11-0310-6D30-3C8C12892B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05880"/>
            <a:ext cx="2070147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062534"/>
            <a:ext cx="245292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VS. PROPOSED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68623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From Manual Bottlenecks to Smart Automation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2461320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Existing System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2960390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Heavy reliance on manual bed monitoring and static paper logs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Delayed emergency allocation with higher risk of human error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registration limits traceability and responsiveness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475" y="5077123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gap: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single source of truth for bed status across the hospital.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96651" y="2272308"/>
            <a:ext cx="5476043" cy="3579713"/>
          </a:xfrm>
          <a:prstGeom prst="roundRect">
            <a:avLst>
              <a:gd name="adj" fmla="val 3802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85658" y="2461320"/>
            <a:ext cx="509802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Proposed System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85658" y="2960390"/>
            <a:ext cx="5098029" cy="26175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Tracking: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Instant bed availability updates across all wings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Triage: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Priority-based emergency allocation for critical patients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Workflows: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registration and secure digital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OOP Design:</a:t>
            </a: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Modular C++ classes with efficient data structures</a:t>
            </a:r>
            <a:endParaRPr lang="en-US" sz="1450" dirty="0"/>
          </a:p>
        </p:txBody>
      </p:sp>
      <p:pic>
        <p:nvPicPr>
          <p:cNvPr id="14" name="Picture 13" descr="Engineer to Excel&#10;&#10;AI-generated content may be incorrect.">
            <a:extLst>
              <a:ext uri="{FF2B5EF4-FFF2-40B4-BE49-F238E27FC236}">
                <a16:creationId xmlns:a16="http://schemas.microsoft.com/office/drawing/2014/main" id="{CE00901B-05B2-91B1-5973-6AC67D0EC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025102" cy="143470"/>
          </a:xfrm>
          <a:prstGeom prst="roundRect">
            <a:avLst>
              <a:gd name="adj" fmla="val 22134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521382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Five Integrated Modules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063030"/>
            <a:ext cx="9753356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60251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is organized into five modules, each responsible for a distinct operational layer — from patient intake and bed tracking to emergency triage, administrative reporting, and secure record management.</a:t>
            </a:r>
            <a:endParaRPr lang="en-US" sz="700" dirty="0"/>
          </a:p>
        </p:txBody>
      </p:sp>
      <p:pic>
        <p:nvPicPr>
          <p:cNvPr id="10" name="Picture 9" descr="Engineer to Excel&#10;&#10;AI-generated content may be incorrect.">
            <a:extLst>
              <a:ext uri="{FF2B5EF4-FFF2-40B4-BE49-F238E27FC236}">
                <a16:creationId xmlns:a16="http://schemas.microsoft.com/office/drawing/2014/main" id="{F594F112-EB62-3F54-9665-4EC597432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3945"/>
            <a:ext cx="735788" cy="215305"/>
          </a:xfrm>
          <a:prstGeom prst="roundRect">
            <a:avLst>
              <a:gd name="adj" fmla="val 22123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646410"/>
            <a:ext cx="1175316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6171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Management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02718"/>
            <a:ext cx="6943551" cy="393471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1610221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7806" y="1605855"/>
            <a:ext cx="31186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Digital Registration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417806" y="1944588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 enrollment into a centralized database with input validation.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2558455"/>
            <a:ext cx="212620" cy="2126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7806" y="2554089"/>
            <a:ext cx="31186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Integrity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417806" y="2892822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capture of demographics and medical history.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3506688"/>
            <a:ext cx="212620" cy="2126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17806" y="3502323"/>
            <a:ext cx="31186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Dynamic Updates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417806" y="3841055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edits as patient condition or treatment changes.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4454922"/>
            <a:ext cx="212620" cy="2126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17806" y="4450556"/>
            <a:ext cx="31186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Record Control</a:t>
            </a:r>
            <a:endParaRPr lang="en-US" sz="1450" dirty="0"/>
          </a:p>
        </p:txBody>
      </p:sp>
      <p:sp>
        <p:nvSpPr>
          <p:cNvPr id="17" name="Text 10"/>
          <p:cNvSpPr/>
          <p:nvPr/>
        </p:nvSpPr>
        <p:spPr>
          <a:xfrm>
            <a:off x="8417806" y="4789289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Single-terminal access with role-based permission controls.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0325" y="5403155"/>
            <a:ext cx="212620" cy="2126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417806" y="5398790"/>
            <a:ext cx="31186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Error Reduction</a:t>
            </a:r>
            <a:endParaRPr lang="en-US" sz="1450" dirty="0"/>
          </a:p>
        </p:txBody>
      </p:sp>
      <p:sp>
        <p:nvSpPr>
          <p:cNvPr id="20" name="Text 12"/>
          <p:cNvSpPr/>
          <p:nvPr/>
        </p:nvSpPr>
        <p:spPr>
          <a:xfrm>
            <a:off x="8417806" y="5737523"/>
            <a:ext cx="311866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duplication and manual-entry errors across the system.</a:t>
            </a:r>
            <a:endParaRPr lang="en-US" sz="1100" dirty="0"/>
          </a:p>
        </p:txBody>
      </p:sp>
      <p:pic>
        <p:nvPicPr>
          <p:cNvPr id="24" name="Picture 23" descr="Engineer to Excel&#10;&#10;AI-generated content may be incorrect.">
            <a:extLst>
              <a:ext uri="{FF2B5EF4-FFF2-40B4-BE49-F238E27FC236}">
                <a16:creationId xmlns:a16="http://schemas.microsoft.com/office/drawing/2014/main" id="{915798A1-9055-CB97-207E-F36573F6F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790158" cy="224334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50075" y="573484"/>
            <a:ext cx="1222543" cy="135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99703"/>
            <a:ext cx="10868745" cy="484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Emergency Priority &amp; Automated Triage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87004"/>
            <a:ext cx="6938590" cy="39319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66570" y="2492970"/>
            <a:ext cx="3569901" cy="1051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Automated Triage Module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computes priority scores from vital signs, presenting complaint, and contextual clinical rules. Higher scores receive top allocation priority — reducing time-to-bed for the most critical cases.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66570" y="3674467"/>
            <a:ext cx="3569901" cy="912416"/>
          </a:xfrm>
          <a:prstGeom prst="roundRect">
            <a:avLst>
              <a:gd name="adj" fmla="val 6798"/>
            </a:avLst>
          </a:prstGeom>
          <a:solidFill>
            <a:srgbClr val="CCEE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204" y="3856236"/>
            <a:ext cx="184542" cy="1476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46380" y="3815159"/>
            <a:ext cx="2942457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logic is modular and extensible — easy to tune for different clinical policies without rewriting core allocation code.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61475" y="5778500"/>
            <a:ext cx="3545989" cy="550168"/>
          </a:xfrm>
          <a:prstGeom prst="roundRect">
            <a:avLst>
              <a:gd name="adj" fmla="val 112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5459" y="5932488"/>
            <a:ext cx="3238022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 Signs Input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322754" y="5778500"/>
            <a:ext cx="3546089" cy="550168"/>
          </a:xfrm>
          <a:prstGeom prst="roundRect">
            <a:avLst>
              <a:gd name="adj" fmla="val 112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476737" y="5932488"/>
            <a:ext cx="3238121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Score Computation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7984132" y="5778500"/>
            <a:ext cx="3545989" cy="550168"/>
          </a:xfrm>
          <a:prstGeom prst="roundRect">
            <a:avLst>
              <a:gd name="adj" fmla="val 1127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138115" y="5932488"/>
            <a:ext cx="3238022" cy="242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Priority Queue</a:t>
            </a:r>
            <a:endParaRPr lang="en-US" sz="1500" dirty="0"/>
          </a:p>
        </p:txBody>
      </p:sp>
      <p:pic>
        <p:nvPicPr>
          <p:cNvPr id="19" name="Picture 18" descr="Engineer to Excel&#10;&#10;AI-generated content may be incorrect.">
            <a:extLst>
              <a:ext uri="{FF2B5EF4-FFF2-40B4-BE49-F238E27FC236}">
                <a16:creationId xmlns:a16="http://schemas.microsoft.com/office/drawing/2014/main" id="{7464558F-52E1-1FE3-5EFB-0FF53B5532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14562"/>
            <a:ext cx="1012502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71216"/>
            <a:ext cx="13952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7730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Bed Management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2680990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up-to-the-second bed status across wards —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available, occupied, reserved,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maintenance.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Live dashboards enable staff to reserve suitable beds, visualize ward load, and trigger automated notifications when beds free up.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00872"/>
            <a:ext cx="378014" cy="3780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415135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Occupancy Dashboard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661475" y="483860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ward and bed type for a live, hospital-wide view.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3800872"/>
            <a:ext cx="378014" cy="37802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63135" y="4415135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Reservation Queueing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363135" y="483860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expiration prevents stale holds and frees beds promptly.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3800872"/>
            <a:ext cx="378014" cy="3780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64794" y="4415135"/>
            <a:ext cx="346542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Sensor Integration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064794" y="4838601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for future IoT-based bed state updates with minimal changes.</a:t>
            </a:r>
            <a:endParaRPr lang="en-US" sz="1450" dirty="0"/>
          </a:p>
        </p:txBody>
      </p:sp>
      <p:pic>
        <p:nvPicPr>
          <p:cNvPr id="16" name="Picture 15" descr="Engineer to Excel&#10;&#10;AI-generated content may be incorrect.">
            <a:extLst>
              <a:ext uri="{FF2B5EF4-FFF2-40B4-BE49-F238E27FC236}">
                <a16:creationId xmlns:a16="http://schemas.microsoft.com/office/drawing/2014/main" id="{F460B6BC-3F17-5257-2BBD-554DA4B185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31217"/>
            <a:ext cx="725767" cy="206276"/>
          </a:xfrm>
          <a:prstGeom prst="roundRect">
            <a:avLst>
              <a:gd name="adj" fmla="val 22130"/>
            </a:avLst>
          </a:prstGeom>
          <a:solidFill>
            <a:srgbClr val="CCEEFF"/>
          </a:solidFill>
          <a:ln/>
        </p:spPr>
      </p:sp>
      <p:sp>
        <p:nvSpPr>
          <p:cNvPr id="4" name="Text 1"/>
          <p:cNvSpPr/>
          <p:nvPr/>
        </p:nvSpPr>
        <p:spPr>
          <a:xfrm>
            <a:off x="742931" y="571897"/>
            <a:ext cx="1172439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776486"/>
            <a:ext cx="6296860" cy="445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Takeaways</a:t>
            </a:r>
            <a:endParaRPr lang="en-US" sz="2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368623"/>
            <a:ext cx="6296860" cy="11663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28399" y="1470521"/>
            <a:ext cx="163012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816351" y="1911945"/>
            <a:ext cx="59871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OOP in Practice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6351" y="2193330"/>
            <a:ext cx="59871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C++ classes, inheritance, and encapsulation applied to a real-world healthcare problem.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632571"/>
            <a:ext cx="6296860" cy="11663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728399" y="2734469"/>
            <a:ext cx="163012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16351" y="3175893"/>
            <a:ext cx="59871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Modular Design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816351" y="3457277"/>
            <a:ext cx="59871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independent modules with clear responsibilities and clean interfaces.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96519"/>
            <a:ext cx="6296860" cy="11663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728399" y="3998416"/>
            <a:ext cx="163012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816351" y="4439841"/>
            <a:ext cx="59871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Architecture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16351" y="4721225"/>
            <a:ext cx="59871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extend — new triage rules, wards, and integrations added without rework.</a:t>
            </a:r>
            <a:endParaRPr lang="en-US" sz="10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60466"/>
            <a:ext cx="6296860" cy="11663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728399" y="5262364"/>
            <a:ext cx="163012" cy="203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816351" y="5703788"/>
            <a:ext cx="5987106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 Impact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816351" y="5985173"/>
            <a:ext cx="598710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Addresses genuine hospital pain points: delays, errors, and lack of visibility.</a:t>
            </a:r>
            <a:endParaRPr lang="en-US" sz="1050" dirty="0"/>
          </a:p>
        </p:txBody>
      </p:sp>
      <p:pic>
        <p:nvPicPr>
          <p:cNvPr id="23" name="Picture 22" descr="Engineer to Excel&#10;&#10;AI-generated content may be incorrect.">
            <a:extLst>
              <a:ext uri="{FF2B5EF4-FFF2-40B4-BE49-F238E27FC236}">
                <a16:creationId xmlns:a16="http://schemas.microsoft.com/office/drawing/2014/main" id="{1A7E7882-7D40-2C44-3E2A-2655725D3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15181"/>
            <a:ext cx="1016768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71835"/>
            <a:ext cx="13995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77925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Resource Allocation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2081609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System-assigned priority scores drive allocation so critical cases are routed first, ensuring ethical, auditable decisions during surges.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99073"/>
            <a:ext cx="3496877" cy="2326283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6832" y="3094434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Intelligent Matching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56832" y="3517900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match patient clinical needs to appropriate available resources — beds, equipment, and specialty staff — reducing manual lookup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899073"/>
            <a:ext cx="3496877" cy="2326283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2716" y="3094434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Priority Logic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542716" y="3517900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System-assigned priority scores drive allocation so critical cases are routed first, ensuring ethical, auditable decisions during surges.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899073"/>
            <a:ext cx="3496877" cy="2326283"/>
          </a:xfrm>
          <a:prstGeom prst="roundRect">
            <a:avLst>
              <a:gd name="adj" fmla="val 341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8600" y="3094434"/>
            <a:ext cx="310616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228600" y="3517900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optimization improves bed utilization and shortens emergency response times by matching throughput patterns to capacity in real time.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43798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module reduces mismatches between patient need and resource capability, increasing throughput and improving outcomes.</a:t>
            </a:r>
            <a:endParaRPr lang="en-US" sz="1450" dirty="0"/>
          </a:p>
        </p:txBody>
      </p:sp>
      <p:pic>
        <p:nvPicPr>
          <p:cNvPr id="17" name="Picture 16" descr="Engineer to Excel&#10;&#10;AI-generated content may be incorrect.">
            <a:extLst>
              <a:ext uri="{FF2B5EF4-FFF2-40B4-BE49-F238E27FC236}">
                <a16:creationId xmlns:a16="http://schemas.microsoft.com/office/drawing/2014/main" id="{9627ED08-F748-C950-5DA5-EBF95E4F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0244"/>
            <a:ext cx="756921" cy="215305"/>
          </a:xfrm>
          <a:prstGeom prst="roundRect">
            <a:avLst>
              <a:gd name="adj" fmla="val 22123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22709"/>
            <a:ext cx="119644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38014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 Records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419" y="2394545"/>
            <a:ext cx="5207663" cy="2951063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7244" y="1682155"/>
            <a:ext cx="3579227" cy="12555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172" y="1842889"/>
            <a:ext cx="31815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Storage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8194172" y="2181622"/>
            <a:ext cx="3181568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sensitive patient data is stored locally with strong file-backed protections. Access is role-based and logged for full auditability.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7244" y="3043932"/>
            <a:ext cx="3579227" cy="145395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172" y="3204666"/>
            <a:ext cx="31815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Easy Modification &amp; Instant Access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194172" y="3543399"/>
            <a:ext cx="3181568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Safe, atomic updates prevent data corruption; clinicians retrieve complete patient histories instantly to support faster, more informed decision-making.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7244" y="4604147"/>
            <a:ext cx="3579227" cy="14539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4172" y="4764881"/>
            <a:ext cx="3181568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C++ Integration &amp; Confidentiality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194172" y="5103614"/>
            <a:ext cx="3181568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backend uses C++ file handling for persistence and performance, with architecture specifically designed to maintain confidentiality and data integrity.</a:t>
            </a:r>
            <a:endParaRPr lang="en-US" sz="1100" dirty="0"/>
          </a:p>
        </p:txBody>
      </p:sp>
      <p:pic>
        <p:nvPicPr>
          <p:cNvPr id="16" name="Picture 15" descr="Engineer to Excel&#10;&#10;AI-generated content may be incorrect.">
            <a:extLst>
              <a:ext uri="{FF2B5EF4-FFF2-40B4-BE49-F238E27FC236}">
                <a16:creationId xmlns:a16="http://schemas.microsoft.com/office/drawing/2014/main" id="{84CA13CA-42AB-13F5-A939-314519106F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8479"/>
            <a:ext cx="962100" cy="272752"/>
          </a:xfrm>
          <a:prstGeom prst="roundRect">
            <a:avLst>
              <a:gd name="adj" fmla="val 22121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742255"/>
            <a:ext cx="135638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1029395"/>
            <a:ext cx="10868745" cy="589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 &amp; Reports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27932"/>
            <a:ext cx="3519201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dramatically improves allocation speed and record accuracy compared to legacy manual methods. The </a:t>
            </a: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Module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gives staff a live view of bed availability, patient status, and system metrics. Generate customizable management reports for capacity planning and compliance.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475" y="4460577"/>
            <a:ext cx="3519201" cy="1517055"/>
          </a:xfrm>
          <a:prstGeom prst="roundRect">
            <a:avLst>
              <a:gd name="adj" fmla="val 4971"/>
            </a:avLst>
          </a:prstGeom>
          <a:solidFill>
            <a:srgbClr val="CCEE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4722118"/>
            <a:ext cx="224427" cy="1794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44867" y="4658916"/>
            <a:ext cx="2756327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Customizable reports support capacity planning, regulatory compliance, and executive-level decision-making.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7900" y="2161679"/>
            <a:ext cx="6565736" cy="3720604"/>
          </a:xfrm>
          <a:prstGeom prst="rect">
            <a:avLst/>
          </a:prstGeom>
        </p:spPr>
      </p:pic>
      <p:pic>
        <p:nvPicPr>
          <p:cNvPr id="11" name="Picture 10" descr="Engineer to Excel&#10;&#10;AI-generated content may be incorrect.">
            <a:extLst>
              <a:ext uri="{FF2B5EF4-FFF2-40B4-BE49-F238E27FC236}">
                <a16:creationId xmlns:a16="http://schemas.microsoft.com/office/drawing/2014/main" id="{27F450A6-30D0-99E3-9D40-99F7294058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5703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Use Case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414165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Actors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61475" y="1831280"/>
            <a:ext cx="2550949" cy="597495"/>
          </a:xfrm>
          <a:prstGeom prst="roundRect">
            <a:avLst>
              <a:gd name="adj" fmla="val 1129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8456" y="1998266"/>
            <a:ext cx="22169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Patient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3348946" y="1831280"/>
            <a:ext cx="2550949" cy="597495"/>
          </a:xfrm>
          <a:prstGeom prst="roundRect">
            <a:avLst>
              <a:gd name="adj" fmla="val 1129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5927" y="1998266"/>
            <a:ext cx="22169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Hospital Staff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61475" y="2565301"/>
            <a:ext cx="2550949" cy="597495"/>
          </a:xfrm>
          <a:prstGeom prst="roundRect">
            <a:avLst>
              <a:gd name="adj" fmla="val 1129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8456" y="2732286"/>
            <a:ext cx="22169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Emergency Staff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348946" y="2565301"/>
            <a:ext cx="2550949" cy="597495"/>
          </a:xfrm>
          <a:prstGeom prst="roundRect">
            <a:avLst>
              <a:gd name="adj" fmla="val 11294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5927" y="2732286"/>
            <a:ext cx="2216988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Administrator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298149" y="1414165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Main Use Cases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298149" y="183128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98149" y="2085181"/>
            <a:ext cx="523842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6298149" y="2203549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Register patient &amp; capture vitals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298149" y="272405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98149" y="2977952"/>
            <a:ext cx="523842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8" name="Text 16"/>
          <p:cNvSpPr/>
          <p:nvPr/>
        </p:nvSpPr>
        <p:spPr>
          <a:xfrm>
            <a:off x="6298149" y="3096320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Check bed availability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298149" y="361682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8149" y="3870722"/>
            <a:ext cx="523842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1" name="Text 19"/>
          <p:cNvSpPr/>
          <p:nvPr/>
        </p:nvSpPr>
        <p:spPr>
          <a:xfrm>
            <a:off x="6298149" y="3989090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Assess emergency priority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298149" y="4509591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98149" y="4763492"/>
            <a:ext cx="523842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4" name="Text 22"/>
          <p:cNvSpPr/>
          <p:nvPr/>
        </p:nvSpPr>
        <p:spPr>
          <a:xfrm>
            <a:off x="6298149" y="4881860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Allocate bed and update status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298149" y="540236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98149" y="5656263"/>
            <a:ext cx="5238421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7" name="Text 25"/>
          <p:cNvSpPr/>
          <p:nvPr/>
        </p:nvSpPr>
        <p:spPr>
          <a:xfrm>
            <a:off x="6298149" y="5774630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Manage records &amp; generate reports</a:t>
            </a:r>
            <a:endParaRPr lang="en-US" sz="1650" dirty="0"/>
          </a:p>
        </p:txBody>
      </p:sp>
      <p:pic>
        <p:nvPicPr>
          <p:cNvPr id="29" name="Picture 28" descr="Engineer to Excel&#10;&#10;AI-generated content may be incorrect.">
            <a:extLst>
              <a:ext uri="{FF2B5EF4-FFF2-40B4-BE49-F238E27FC236}">
                <a16:creationId xmlns:a16="http://schemas.microsoft.com/office/drawing/2014/main" id="{8A140757-4AE1-8B8B-B6F1-1C02B9CCA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697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Workflow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58521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workflow ensures consistent triage, transparent allocation, and durable record updates — ideal for emergency and routine admissions.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30" y="2402681"/>
            <a:ext cx="8452035" cy="38683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41606" y="5344771"/>
            <a:ext cx="1586817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Finalize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341783" y="5344771"/>
            <a:ext cx="1586817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Allocation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352827" y="5344771"/>
            <a:ext cx="1586817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Input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320397" y="5344771"/>
            <a:ext cx="1586817" cy="320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Triage</a:t>
            </a:r>
            <a:endParaRPr lang="en-US" sz="2000" dirty="0"/>
          </a:p>
        </p:txBody>
      </p:sp>
      <p:pic>
        <p:nvPicPr>
          <p:cNvPr id="10" name="Picture 9" descr="Engineer to Excel&#10;&#10;AI-generated content may be incorrect.">
            <a:extLst>
              <a:ext uri="{FF2B5EF4-FFF2-40B4-BE49-F238E27FC236}">
                <a16:creationId xmlns:a16="http://schemas.microsoft.com/office/drawing/2014/main" id="{BCC61539-D479-96C1-FE8A-58AE38F841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738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C++ Concepts Used</a:t>
            </a:r>
            <a:endParaRPr lang="en-US" sz="3900" dirty="0"/>
          </a:p>
        </p:txBody>
      </p:sp>
      <p:sp>
        <p:nvSpPr>
          <p:cNvPr id="9001" name="Card0"/>
          <p:cNvSpPr/>
          <p:nvPr/>
        </p:nvSpPr>
        <p:spPr>
          <a:xfrm>
            <a:off x="661475" y="2600000"/>
            <a:ext cx="3508486" cy="2934246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2" name="IconCircle0"/>
          <p:cNvSpPr/>
          <p:nvPr/>
        </p:nvSpPr>
        <p:spPr>
          <a:xfrm>
            <a:off x="847902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6528" y="2934957"/>
            <a:ext cx="243179" cy="243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7902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OOP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7902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Classes and encapsulation for Patient, Bed, and Allocation logic; inheritance for specialized roles.</a:t>
            </a:r>
            <a:endParaRPr lang="en-US" sz="1450" dirty="0"/>
          </a:p>
        </p:txBody>
      </p:sp>
      <p:sp>
        <p:nvSpPr>
          <p:cNvPr id="9003" name="Card1"/>
          <p:cNvSpPr/>
          <p:nvPr/>
        </p:nvSpPr>
        <p:spPr>
          <a:xfrm>
            <a:off x="4341605" y="2600000"/>
            <a:ext cx="3508486" cy="2934246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4" name="IconCircle1"/>
          <p:cNvSpPr/>
          <p:nvPr/>
        </p:nvSpPr>
        <p:spPr>
          <a:xfrm>
            <a:off x="4528032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6658" y="2934957"/>
            <a:ext cx="243179" cy="243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8032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Structures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528032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Queues manage waitlists; arrays and maps track bed state and resource metadata efficiently.</a:t>
            </a:r>
            <a:endParaRPr lang="en-US" sz="1450" dirty="0"/>
          </a:p>
        </p:txBody>
      </p:sp>
      <p:sp>
        <p:nvSpPr>
          <p:cNvPr id="9005" name="Card2"/>
          <p:cNvSpPr/>
          <p:nvPr/>
        </p:nvSpPr>
        <p:spPr>
          <a:xfrm>
            <a:off x="8021734" y="2600000"/>
            <a:ext cx="3508486" cy="2934246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6" name="IconCircle2"/>
          <p:cNvSpPr/>
          <p:nvPr/>
        </p:nvSpPr>
        <p:spPr>
          <a:xfrm>
            <a:off x="8208161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787" y="2934957"/>
            <a:ext cx="243179" cy="2431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08161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Control &amp; Storage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208161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Conditional routing for triage decisions and robust C++ file handling for persistent, tamper-resistant storage.</a:t>
            </a:r>
            <a:endParaRPr lang="en-US" sz="1450" dirty="0"/>
          </a:p>
        </p:txBody>
      </p:sp>
      <p:pic>
        <p:nvPicPr>
          <p:cNvPr id="13" name="Picture 12" descr="Engineer to Excel&#10;&#10;AI-generated content may be incorrect.">
            <a:extLst>
              <a:ext uri="{FF2B5EF4-FFF2-40B4-BE49-F238E27FC236}">
                <a16:creationId xmlns:a16="http://schemas.microsoft.com/office/drawing/2014/main" id="{458F7D70-F7DF-31DD-F4CC-6AC460CDF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738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Inside the Codebase</a:t>
            </a:r>
            <a:endParaRPr lang="en-US" sz="3900" dirty="0"/>
          </a:p>
        </p:txBody>
      </p:sp>
      <p:sp>
        <p:nvSpPr>
          <p:cNvPr id="9001" name="Card0"/>
          <p:cNvSpPr/>
          <p:nvPr/>
        </p:nvSpPr>
        <p:spPr>
          <a:xfrm>
            <a:off x="661475" y="2600000"/>
            <a:ext cx="3508486" cy="3319536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2" name="IconCircle0"/>
          <p:cNvSpPr/>
          <p:nvPr/>
        </p:nvSpPr>
        <p:spPr>
          <a:xfrm>
            <a:off x="847902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934957"/>
            <a:ext cx="243179" cy="243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7902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Embedded Web Server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7902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WinSock2 HTTP server on port 8080 serves the dashboard and a lightweight JSON API directly from the compiled C++ binary — no external framework.</a:t>
            </a:r>
            <a:endParaRPr lang="en-US" sz="1450" dirty="0"/>
          </a:p>
        </p:txBody>
      </p:sp>
      <p:sp>
        <p:nvSpPr>
          <p:cNvPr id="9003" name="Card1"/>
          <p:cNvSpPr/>
          <p:nvPr/>
        </p:nvSpPr>
        <p:spPr>
          <a:xfrm>
            <a:off x="4341605" y="2599999"/>
            <a:ext cx="3508486" cy="3319537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4" name="IconCircle1"/>
          <p:cNvSpPr/>
          <p:nvPr/>
        </p:nvSpPr>
        <p:spPr>
          <a:xfrm>
            <a:off x="4528032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658" y="2934957"/>
            <a:ext cx="243179" cy="243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8032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Single-Page Dashboard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528032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generated HTML/CSS/JS page renders live cards, tables and the 50-bed grid, polling /api/dashboard every 5 seconds for real-time updates.</a:t>
            </a:r>
            <a:endParaRPr lang="en-US" sz="1450" dirty="0"/>
          </a:p>
        </p:txBody>
      </p:sp>
      <p:sp>
        <p:nvSpPr>
          <p:cNvPr id="9005" name="Card2"/>
          <p:cNvSpPr/>
          <p:nvPr/>
        </p:nvSpPr>
        <p:spPr>
          <a:xfrm>
            <a:off x="8021734" y="2600000"/>
            <a:ext cx="3508486" cy="3319536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6" name="IconCircle2"/>
          <p:cNvSpPr/>
          <p:nvPr/>
        </p:nvSpPr>
        <p:spPr>
          <a:xfrm>
            <a:off x="8208161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6787" y="2934957"/>
            <a:ext cx="243179" cy="2431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08161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File-Backed Persistence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208161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Beds and resources are serialized to pipe-delimited text files and reloaded on startup; every action is timestamped into an audit log.</a:t>
            </a:r>
            <a:endParaRPr lang="en-US" sz="1450" dirty="0"/>
          </a:p>
        </p:txBody>
      </p:sp>
      <p:pic>
        <p:nvPicPr>
          <p:cNvPr id="13" name="Picture 12" descr="Engineer to Excel&#10;&#10;AI-generated content may be incorrect.">
            <a:extLst>
              <a:ext uri="{FF2B5EF4-FFF2-40B4-BE49-F238E27FC236}">
                <a16:creationId xmlns:a16="http://schemas.microsoft.com/office/drawing/2014/main" id="{458F7D70-F7DF-31DD-F4CC-6AC460CDF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7388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Priority Scoring Works</a:t>
            </a:r>
            <a:endParaRPr lang="en-US" sz="3900" dirty="0"/>
          </a:p>
        </p:txBody>
      </p:sp>
      <p:sp>
        <p:nvSpPr>
          <p:cNvPr id="9001" name="Card0"/>
          <p:cNvSpPr/>
          <p:nvPr/>
        </p:nvSpPr>
        <p:spPr>
          <a:xfrm>
            <a:off x="661475" y="2600000"/>
            <a:ext cx="3508486" cy="3255368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2" name="IconCircle0"/>
          <p:cNvSpPr/>
          <p:nvPr/>
        </p:nvSpPr>
        <p:spPr>
          <a:xfrm>
            <a:off x="847902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934957"/>
            <a:ext cx="243179" cy="2431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7902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Vitals Scoring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7902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Oxygen, heart rate and blood pressure each add weighted points — e.g. SpO₂ below 85% adds 40 points, systolic BP below 80 adds 25.</a:t>
            </a:r>
            <a:endParaRPr lang="en-US" sz="1450" dirty="0"/>
          </a:p>
        </p:txBody>
      </p:sp>
      <p:sp>
        <p:nvSpPr>
          <p:cNvPr id="9003" name="Card1"/>
          <p:cNvSpPr/>
          <p:nvPr/>
        </p:nvSpPr>
        <p:spPr>
          <a:xfrm>
            <a:off x="4341605" y="2599999"/>
            <a:ext cx="3508486" cy="3255367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4" name="IconCircle1"/>
          <p:cNvSpPr/>
          <p:nvPr/>
        </p:nvSpPr>
        <p:spPr>
          <a:xfrm>
            <a:off x="4528032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6658" y="2934957"/>
            <a:ext cx="243179" cy="2431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28032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Complaint Keywords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4528032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presenting complaint is scanned for terms like chest, stroke, breathing and unconscious, each adding 25–35 points on a match.</a:t>
            </a:r>
            <a:endParaRPr lang="en-US" sz="1450" dirty="0"/>
          </a:p>
        </p:txBody>
      </p:sp>
      <p:sp>
        <p:nvSpPr>
          <p:cNvPr id="9005" name="Card2"/>
          <p:cNvSpPr/>
          <p:nvPr/>
        </p:nvSpPr>
        <p:spPr>
          <a:xfrm>
            <a:off x="8021734" y="2600000"/>
            <a:ext cx="3508486" cy="3255368"/>
          </a:xfrm>
          <a:prstGeom prst="roundRect">
            <a:avLst>
              <a:gd name="adj" fmla="val 325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9006" name="IconCircle2"/>
          <p:cNvSpPr/>
          <p:nvPr/>
        </p:nvSpPr>
        <p:spPr>
          <a:xfrm>
            <a:off x="8208161" y="2786427"/>
            <a:ext cx="540431" cy="540445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56787" y="2934957"/>
            <a:ext cx="243179" cy="2431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08161" y="3546872"/>
            <a:ext cx="3135632" cy="62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Priority Bands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8208161" y="4366990"/>
            <a:ext cx="313563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are capped at 100 and mapped to bands — CRITICAL ≥80, HIGH ≥60, MEDIUM ≥35, LOW below — driving allocation to ICU, Emergency or General wards.</a:t>
            </a:r>
            <a:endParaRPr lang="en-US" sz="1450" dirty="0"/>
          </a:p>
        </p:txBody>
      </p:sp>
      <p:pic>
        <p:nvPicPr>
          <p:cNvPr id="13" name="Picture 12" descr="Engineer to Excel&#10;&#10;AI-generated content may be incorrect.">
            <a:extLst>
              <a:ext uri="{FF2B5EF4-FFF2-40B4-BE49-F238E27FC236}">
                <a16:creationId xmlns:a16="http://schemas.microsoft.com/office/drawing/2014/main" id="{458F7D70-F7DF-31DD-F4CC-6AC460CDF1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11709"/>
            <a:ext cx="6296860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Advantages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233360" y="1334591"/>
            <a:ext cx="6296860" cy="1118096"/>
          </a:xfrm>
          <a:prstGeom prst="roundRect">
            <a:avLst>
              <a:gd name="adj" fmla="val 461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62540" y="1463774"/>
            <a:ext cx="368489" cy="368498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3840" y="1565077"/>
            <a:ext cx="165790" cy="1657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2540" y="1912045"/>
            <a:ext cx="60385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Rapid Action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362540" y="2161381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triage shortens response times and routes critical patients faster.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233360" y="2532459"/>
            <a:ext cx="6296860" cy="1118096"/>
          </a:xfrm>
          <a:prstGeom prst="roundRect">
            <a:avLst>
              <a:gd name="adj" fmla="val 461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62540" y="2661642"/>
            <a:ext cx="368489" cy="368498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3840" y="2762945"/>
            <a:ext cx="165790" cy="16579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362540" y="3109913"/>
            <a:ext cx="60385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High Efficiency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362540" y="3359249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bed utilization cuts waiting times and increases throughput.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233360" y="3730327"/>
            <a:ext cx="6296860" cy="1118096"/>
          </a:xfrm>
          <a:prstGeom prst="roundRect">
            <a:avLst>
              <a:gd name="adj" fmla="val 461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62540" y="3859510"/>
            <a:ext cx="368489" cy="368498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63840" y="3960813"/>
            <a:ext cx="165790" cy="16579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62540" y="4307780"/>
            <a:ext cx="60385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Total Control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362540" y="4557117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get centralized visibility and actionable reports for decision-making.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5233360" y="4928195"/>
            <a:ext cx="6296860" cy="1118096"/>
          </a:xfrm>
          <a:prstGeom prst="roundRect">
            <a:avLst>
              <a:gd name="adj" fmla="val 461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62540" y="5057378"/>
            <a:ext cx="368489" cy="368498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63840" y="5158680"/>
            <a:ext cx="165790" cy="16579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62540" y="5505648"/>
            <a:ext cx="60385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Confidentiality &amp; Scalability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5362540" y="5754985"/>
            <a:ext cx="603850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File-backed storage protects sensitive data and the modular C++ design supports incremental scaling.</a:t>
            </a:r>
            <a:endParaRPr lang="en-US" sz="950" dirty="0"/>
          </a:p>
        </p:txBody>
      </p:sp>
      <p:pic>
        <p:nvPicPr>
          <p:cNvPr id="25" name="Picture 24" descr="Engineer to Excel&#10;&#10;AI-generated content may be incorrect.">
            <a:extLst>
              <a:ext uri="{FF2B5EF4-FFF2-40B4-BE49-F238E27FC236}">
                <a16:creationId xmlns:a16="http://schemas.microsoft.com/office/drawing/2014/main" id="{6BDDF8FF-84F9-5227-D0ED-B1714DB698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>
            <a:extLst>
              <a:ext uri="{FF2B5EF4-FFF2-40B4-BE49-F238E27FC236}">
                <a16:creationId xmlns:a16="http://schemas.microsoft.com/office/drawing/2014/main" id="{A0081916-714A-4A88-6D0E-585318CB2846}"/>
              </a:ext>
            </a:extLst>
          </p:cNvPr>
          <p:cNvSpPr/>
          <p:nvPr/>
        </p:nvSpPr>
        <p:spPr>
          <a:xfrm>
            <a:off x="295609" y="3081910"/>
            <a:ext cx="5678905" cy="931676"/>
          </a:xfrm>
          <a:prstGeom prst="roundRect">
            <a:avLst>
              <a:gd name="adj" fmla="val 50000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540141" y="921952"/>
            <a:ext cx="10868745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Future Scope &amp; Enhancements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898404" y="3281402"/>
            <a:ext cx="5319083" cy="1146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system's modular C++ architecture is designed to grow with your organization. Planned enhancements will extend capabilities in three key directions.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564" t="17831" r="3711" b="17298"/>
          <a:stretch>
            <a:fillRect/>
          </a:stretch>
        </p:blipFill>
        <p:spPr>
          <a:xfrm>
            <a:off x="6055829" y="1291389"/>
            <a:ext cx="6049155" cy="4186990"/>
          </a:xfrm>
          <a:prstGeom prst="rect">
            <a:avLst/>
          </a:prstGeom>
        </p:spPr>
      </p:pic>
      <p:pic>
        <p:nvPicPr>
          <p:cNvPr id="7" name="Picture 6" descr="Engineer to Excel&#10;&#10;AI-generated content may be incorrect.">
            <a:extLst>
              <a:ext uri="{FF2B5EF4-FFF2-40B4-BE49-F238E27FC236}">
                <a16:creationId xmlns:a16="http://schemas.microsoft.com/office/drawing/2014/main" id="{62D9E1E9-C464-59AE-4B35-2785923D7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72096"/>
            <a:ext cx="6296860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233360" y="227578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C++-based system delivers real-time bed tracking, priority-driven allocation, and robust local record storage. The result: fewer allocation delays, faster emergency care, better utilization, and a modular foundation ready for AI, IoT, and cloud enhancements.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745309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33360" y="4101405"/>
            <a:ext cx="6296860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233360" y="4881066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 Contact the project lead to discuss implementation timelines, pilot scope, and resource needs.</a:t>
            </a:r>
            <a:endParaRPr lang="en-US" sz="1450" dirty="0"/>
          </a:p>
        </p:txBody>
      </p:sp>
      <p:pic>
        <p:nvPicPr>
          <p:cNvPr id="9" name="Picture 8" descr="Engineer to Excel&#10;&#10;AI-generated content may be incorrect.">
            <a:extLst>
              <a:ext uri="{FF2B5EF4-FFF2-40B4-BE49-F238E27FC236}">
                <a16:creationId xmlns:a16="http://schemas.microsoft.com/office/drawing/2014/main" id="{089450C6-8E04-053F-90CF-639273EA9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788" y="172733"/>
            <a:ext cx="2058457" cy="5768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13372"/>
            <a:ext cx="6296860" cy="1240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4" name="Text 1"/>
          <p:cNvSpPr/>
          <p:nvPr/>
        </p:nvSpPr>
        <p:spPr>
          <a:xfrm>
            <a:off x="5233360" y="3737273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appreciate your time and consideration. This system is designed to improve care delivery, streamline operations, and support better outcomes for every patient.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1431</Words>
  <Application>Microsoft Office PowerPoint</Application>
  <PresentationFormat>Widescreen</PresentationFormat>
  <Paragraphs>198</Paragraphs>
  <Slides>22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Petrona Bold</vt:lpstr>
      <vt:lpstr>Inter Bold</vt:lpstr>
      <vt:lpstr>Petrona Light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Farmanullah R</cp:lastModifiedBy>
  <cp:revision>4</cp:revision>
  <dcterms:created xsi:type="dcterms:W3CDTF">2026-08-31T16:24:56Z</dcterms:created>
  <dcterms:modified xsi:type="dcterms:W3CDTF">2026-09-01T07:25:21Z</dcterms:modified>
</cp:coreProperties>
</file>